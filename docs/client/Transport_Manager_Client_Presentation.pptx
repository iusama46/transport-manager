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681179409840bd" /><Relationship Type="http://schemas.openxmlformats.org/officeDocument/2006/relationships/extended-properties" Target="/docProps/app.xml" Id="Rb8a6ba61379b4078" /><Relationship Type="http://schemas.openxmlformats.org/officeDocument/2006/relationships/officeDocument" Target="/ppt/presentation.xml" Id="R8909fd9b9fdc4f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38886c816b4877"/>
  </p:sldMasterIdLst>
  <p:notesMasterIdLst>
    <p:notesMasterId xmlns:r="http://schemas.openxmlformats.org/officeDocument/2006/relationships" r:id="R95b90124fb094fce"/>
  </p:notesMasterIdLst>
  <p:sldIdLst>
    <p:sldId xmlns:r="http://schemas.openxmlformats.org/officeDocument/2006/relationships" id="256" r:id="R127c36af39524d72"/>
    <p:sldId xmlns:r="http://schemas.openxmlformats.org/officeDocument/2006/relationships" id="257" r:id="R6169aef4450447cf"/>
    <p:sldId xmlns:r="http://schemas.openxmlformats.org/officeDocument/2006/relationships" id="258" r:id="R338bd1342f494101"/>
    <p:sldId xmlns:r="http://schemas.openxmlformats.org/officeDocument/2006/relationships" id="259" r:id="R5a77b94103f54cf5"/>
    <p:sldId xmlns:r="http://schemas.openxmlformats.org/officeDocument/2006/relationships" id="260" r:id="R47f1198a22544390"/>
    <p:sldId xmlns:r="http://schemas.openxmlformats.org/officeDocument/2006/relationships" id="261" r:id="Rc9bd18fac21a428d"/>
    <p:sldId xmlns:r="http://schemas.openxmlformats.org/officeDocument/2006/relationships" id="262" r:id="Rbe2597df42b24e0e"/>
    <p:sldId xmlns:r="http://schemas.openxmlformats.org/officeDocument/2006/relationships" id="263" r:id="Rbd2a5f1770324816"/>
    <p:sldId xmlns:r="http://schemas.openxmlformats.org/officeDocument/2006/relationships" id="264" r:id="R1f1ae8b58239426d"/>
    <p:sldId xmlns:r="http://schemas.openxmlformats.org/officeDocument/2006/relationships" id="265" r:id="R95512b82c4dc4c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8c59439a9b4c89" /><Relationship Type="http://schemas.openxmlformats.org/officeDocument/2006/relationships/slideMaster" Target="/ppt/slideMasters/slideMaster1.xml" Id="R4938886c816b4877" /><Relationship Type="http://schemas.openxmlformats.org/officeDocument/2006/relationships/notesMaster" Target="/ppt/notesMasters/notesMaster1.xml" Id="R95b90124fb094fce" /><Relationship Type="http://schemas.openxmlformats.org/officeDocument/2006/relationships/presProps" Target="/ppt/presProps.xml" Id="Rf0f53a8b147a4651" /><Relationship Type="http://schemas.openxmlformats.org/officeDocument/2006/relationships/tableStyles" Target="/ppt/tableStyles.xml" Id="R15c2a682add04ccc" /><Relationship Type="http://schemas.openxmlformats.org/officeDocument/2006/relationships/slide" Target="/ppt/slides/slide1.xml" Id="R127c36af39524d72" /><Relationship Type="http://schemas.openxmlformats.org/officeDocument/2006/relationships/slide" Target="/ppt/slides/slide2.xml" Id="R6169aef4450447cf" /><Relationship Type="http://schemas.openxmlformats.org/officeDocument/2006/relationships/slide" Target="/ppt/slides/slide3.xml" Id="R338bd1342f494101" /><Relationship Type="http://schemas.openxmlformats.org/officeDocument/2006/relationships/slide" Target="/ppt/slides/slide4.xml" Id="R5a77b94103f54cf5" /><Relationship Type="http://schemas.openxmlformats.org/officeDocument/2006/relationships/slide" Target="/ppt/slides/slide5.xml" Id="R47f1198a22544390" /><Relationship Type="http://schemas.openxmlformats.org/officeDocument/2006/relationships/slide" Target="/ppt/slides/slide6.xml" Id="Rc9bd18fac21a428d" /><Relationship Type="http://schemas.openxmlformats.org/officeDocument/2006/relationships/slide" Target="/ppt/slides/slide7.xml" Id="Rbe2597df42b24e0e" /><Relationship Type="http://schemas.openxmlformats.org/officeDocument/2006/relationships/slide" Target="/ppt/slides/slide8.xml" Id="Rbd2a5f1770324816" /><Relationship Type="http://schemas.openxmlformats.org/officeDocument/2006/relationships/slide" Target="/ppt/slides/slide9.xml" Id="R1f1ae8b58239426d" /><Relationship Type="http://schemas.openxmlformats.org/officeDocument/2006/relationships/slide" Target="/ppt/slides/slide10.xml" Id="R95512b82c4dc4c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d908275b454b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cc397b8ffb4378" /><Relationship Type="http://schemas.openxmlformats.org/officeDocument/2006/relationships/notesMaster" Target="/ppt/notesMasters/notesMaster1.xml" Id="R1aff94be2a0c42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ccafff1ac14332" /><Relationship Type="http://schemas.openxmlformats.org/officeDocument/2006/relationships/notesMaster" Target="/ppt/notesMasters/notesMaster1.xml" Id="R2d1861e1a8234b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61b6f751d54846" /><Relationship Type="http://schemas.openxmlformats.org/officeDocument/2006/relationships/notesMaster" Target="/ppt/notesMasters/notesMaster1.xml" Id="R38fbdbaf7cb041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e391ec4dca4e87" /><Relationship Type="http://schemas.openxmlformats.org/officeDocument/2006/relationships/notesMaster" Target="/ppt/notesMasters/notesMaster1.xml" Id="Red4fe2ba67ee4e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0f0362056e4c9f" /><Relationship Type="http://schemas.openxmlformats.org/officeDocument/2006/relationships/notesMaster" Target="/ppt/notesMasters/notesMaster1.xml" Id="Rd515e455510a47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55287fde66479e" /><Relationship Type="http://schemas.openxmlformats.org/officeDocument/2006/relationships/notesMaster" Target="/ppt/notesMasters/notesMaster1.xml" Id="Rc72dfaca565c4e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34d64e2a484eff" /><Relationship Type="http://schemas.openxmlformats.org/officeDocument/2006/relationships/notesMaster" Target="/ppt/notesMasters/notesMaster1.xml" Id="R7231a115cc7549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fa5f3356a44c42" /><Relationship Type="http://schemas.openxmlformats.org/officeDocument/2006/relationships/notesMaster" Target="/ppt/notesMasters/notesMaster1.xml" Id="Rdc23b649d98f40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d80c96c51a430d" /><Relationship Type="http://schemas.openxmlformats.org/officeDocument/2006/relationships/notesMaster" Target="/ppt/notesMasters/notesMaster1.xml" Id="R53b5585a442a4bd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4cbf3f44d7a4d92" /><Relationship Type="http://schemas.openxmlformats.org/officeDocument/2006/relationships/notesMaster" Target="/ppt/notesMasters/notesMaster1.xml" Id="R332e27bb34584b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Transport Manager PRD v0.3, https://github.com/iusama46/transport-manager/blob/main/docs/PRD.md, reviewed 5 October 2026. Planned capabilities, not a statement of completed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Transport Manager PRD v0.3, https://github.com/iusama46/transport-manager/blob/main/docs/PRD.md, reviewed 5 October 2026. Planned capabilities, not a statement of completed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Transport Manager PRD v0.3, https://github.com/iusama46/transport-manager/blob/main/docs/PRD.md, reviewed 5 October 2026. Planned capabilities, not a statement of completed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Transport Manager PRD v0.3, https://github.com/iusama46/transport-manager/blob/main/docs/PRD.md, reviewed 5 October 2026. Planned capabilities, not a statement of completed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Transport Manager PRD v0.3, https://github.com/iusama46/transport-manager/blob/main/docs/PRD.md, reviewed 5 October 2026. Planned capabilities, not a statement of completed implementation. Commission calculation, advance recipient and expense responsibility remain unconfirmed.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Transport Manager PRD v0.3, https://github.com/iusama46/transport-manager/blob/main/docs/PRD.md, reviewed 5 October 2026. Planned capabilities, not a statement of completed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Transport Manager PRD v0.3, https://github.com/iusama46/transport-manager/blob/main/docs/PRD.md, reviewed 5 October 2026. Planned capabilities, not a statement of completed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Transport Manager PRD v0.3, https://github.com/iusama46/transport-manager/blob/main/docs/PRD.md, reviewed 5 October 2026. Planned capabilities, not a statement of completed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Transport Manager PRD v0.3, https://github.com/iusama46/transport-manager/blob/main/docs/PRD.md, reviewed 5 October 2026. Planned capabilities, not a statement of completed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Transport Manager PRD v0.3, https://github.com/iusama46/transport-manager/blob/main/docs/PRD.md, reviewed 5 October 2026. Planned capabilities, not a statement of completed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cc879f5a1b42c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8e4140dc224a3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e405b3301d4f2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5babc828bc4f3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2564cc6d654fe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78da7f265e49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5613981-F90C-49B2-A2A5-9E5C1742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F3C6150-0ED9-4534-AC82-F5FB766893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C1F7FF0A-CA9D-46A8-9D11-230576F3EFB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BBE8525-178F-42C0-B4D9-AACE0E84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63180E5-414E-42BC-A743-DC1461C9E1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7CCE182-3A5A-47B1-936E-3CDA33DA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E37CCE9-7EDE-47D4-8C5A-416D25F790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BFC03FB1-FAFA-407D-86D9-5E697FB0BC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C275A12-718C-4711-A580-81BEC0DB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35C5890-495E-4A42-9DBF-82EDDD9C4C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458285A-8D5D-4C5E-87E4-A8EC635609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200745E-4BF3-4378-9E73-4D90828480E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A128ECE-23D2-4624-87A5-F2CEFEE6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43F79B4-6C5A-42D7-AA8A-C91260F1CA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698B1C4-14C5-4B93-B75E-D7CD7D719E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54bb6f29bb4e9e" /><Relationship Type="http://schemas.openxmlformats.org/officeDocument/2006/relationships/slideLayout" Target="/ppt/slideLayouts/slideLayout1.xml" Id="Ra718cf1758924339" /><Relationship Type="http://schemas.openxmlformats.org/officeDocument/2006/relationships/slideLayout" Target="/ppt/slideLayouts/slideLayout2.xml" Id="R7bb89a0cf0e5413a" /><Relationship Type="http://schemas.openxmlformats.org/officeDocument/2006/relationships/slideLayout" Target="/ppt/slideLayouts/slideLayout3.xml" Id="Rfb99b17ff08046a1" /><Relationship Type="http://schemas.openxmlformats.org/officeDocument/2006/relationships/slideLayout" Target="/ppt/slideLayouts/slideLayout4.xml" Id="R615d28ea51d94441" /><Relationship Type="http://schemas.openxmlformats.org/officeDocument/2006/relationships/slideLayout" Target="/ppt/slideLayouts/slideLayout5.xml" Id="R961426e82484412b" /><Relationship Type="http://schemas.openxmlformats.org/officeDocument/2006/relationships/slideLayout" Target="/ppt/slideLayouts/slideLayout6.xml" Id="Rc076740cab0047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18cf1758924339"/>
    <p:sldLayoutId xmlns:r="http://schemas.openxmlformats.org/officeDocument/2006/relationships" id="2147483650" r:id="R7bb89a0cf0e5413a"/>
    <p:sldLayoutId xmlns:r="http://schemas.openxmlformats.org/officeDocument/2006/relationships" id="2147483651" r:id="Rfb99b17ff08046a1"/>
    <p:sldLayoutId xmlns:r="http://schemas.openxmlformats.org/officeDocument/2006/relationships" id="2147483652" r:id="R615d28ea51d94441"/>
    <p:sldLayoutId xmlns:r="http://schemas.openxmlformats.org/officeDocument/2006/relationships" id="2147483653" r:id="R961426e82484412b"/>
    <p:sldLayoutId xmlns:r="http://schemas.openxmlformats.org/officeDocument/2006/relationships" id="2147483654" r:id="Rc076740cab0047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cb63dbcbf043d9" /><Relationship Type="http://schemas.openxmlformats.org/officeDocument/2006/relationships/notesSlide" Target="/ppt/notesSlides/notesSlide1.xml" Id="Rc9accdf587b943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8ae1002be94424" /><Relationship Type="http://schemas.openxmlformats.org/officeDocument/2006/relationships/notesSlide" Target="/ppt/notesSlides/notesSlide2.xml" Id="Rdaf6ff16dc664b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a09d07e4654301" /><Relationship Type="http://schemas.openxmlformats.org/officeDocument/2006/relationships/notesSlide" Target="/ppt/notesSlides/notesSlide3.xml" Id="Rf05742d2c92f46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aace58131840c2" /><Relationship Type="http://schemas.openxmlformats.org/officeDocument/2006/relationships/notesSlide" Target="/ppt/notesSlides/notesSlide4.xml" Id="Rd7b2ff9ea7c44f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900e14b8454fe3" /><Relationship Type="http://schemas.openxmlformats.org/officeDocument/2006/relationships/notesSlide" Target="/ppt/notesSlides/notesSlide5.xml" Id="Rbcc625b875ac4c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75436a86e24827" /><Relationship Type="http://schemas.openxmlformats.org/officeDocument/2006/relationships/notesSlide" Target="/ppt/notesSlides/notesSlide6.xml" Id="Rf448c888af8d4e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6394b8121240ec" /><Relationship Type="http://schemas.openxmlformats.org/officeDocument/2006/relationships/notesSlide" Target="/ppt/notesSlides/notesSlide7.xml" Id="R56c5ffc357c34f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7b91bf4d9645af" /><Relationship Type="http://schemas.openxmlformats.org/officeDocument/2006/relationships/notesSlide" Target="/ppt/notesSlides/notesSlide8.xml" Id="Rb9c8bff2057e4f2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27764c94b04028" /><Relationship Type="http://schemas.openxmlformats.org/officeDocument/2006/relationships/notesSlide" Target="/ppt/notesSlides/notesSlide9.xml" Id="Rdf669aed6ca7423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cc10aab5bb4bb1" /><Relationship Type="http://schemas.openxmlformats.org/officeDocument/2006/relationships/notesSlide" Target="/ppt/notesSlides/notesSlide10.xml" Id="Rc6e1ff7679e44a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F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5203A1-D895-4A18-A4F9-CD086CA8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Transport Manager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9AF15E-A0D4-472A-8C56-28952036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2877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FD8E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BFD8ED"/>
                </a:solidFill>
                <a:latin typeface="DejaVu Sans"/>
                <a:ea typeface="DejaVu Sans"/>
                <a:cs typeface="DejaVu Sans"/>
              </a:rPr>
              <a:t>Client overview and proposed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A1327A-1596-483F-8C94-AEC95C5B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107632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One transport business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Web dashboard first, mobile app later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 October 2026 - Draft for client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5376B8-A2CD-47A5-A74C-A364A6BA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FD8E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FD8ED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764920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909936-1DF5-4CAF-A6C1-5AB417F0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F4D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42F4D"/>
                </a:solidFill>
                <a:latin typeface="DejaVu Sans"/>
                <a:ea typeface="DejaVu Sans"/>
                <a:cs typeface="DejaVu Sans"/>
              </a:rPr>
              <a:t>Daily transport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5A01C1-582A-4267-A75A-80BD4068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2877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6718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6718E"/>
                </a:solidFill>
                <a:latin typeface="DejaVu Sans"/>
                <a:ea typeface="DejaVu Sans"/>
                <a:cs typeface="DejaVu Sans"/>
              </a:rPr>
              <a:t>One order connects the work and its records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9ECB6E-FC28-446C-B11E-4E5AE152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107632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rPr>
              <a:t>01  Record the customer, receiver, cargo and route</a:t>
            </a:r>
          </a:p>
          <a:p xmlns:a="http://schemas.openxmlformats.org/drawingml/2006/main">
            <a:pPr>
              <a:def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rPr>
              <a:t>02  Assign a vehicle and driver or an outside partner</a:t>
            </a:r>
          </a:p>
          <a:p xmlns:a="http://schemas.openxmlformats.org/drawingml/2006/main">
            <a:pPr>
              <a:def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rPr>
              <a:t>03  Track loading, stops and delivery proof</a:t>
            </a:r>
          </a:p>
          <a:p xmlns:a="http://schemas.openxmlformats.org/drawingml/2006/main">
            <a:pPr>
              <a:def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rPr>
              <a:t>04  Record costs, issue the bill and track payments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21829C-8D5F-46CC-82FC-3216991A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77D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329670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0B0F2D-5A88-409D-90FB-0799D357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F4D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42F4D"/>
                </a:solidFill>
                <a:latin typeface="DejaVu Sans"/>
                <a:ea typeface="DejaVu Sans"/>
                <a:cs typeface="DejaVu Sans"/>
              </a:rPr>
              <a:t>Customers, receivers and partners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C96501-EB6D-442A-BB98-ABC254F3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2877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6718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6718E"/>
                </a:solidFill>
                <a:latin typeface="DejaVu Sans"/>
                <a:ea typeface="DejaVu Sans"/>
                <a:cs typeface="DejaVu Sans"/>
              </a:rPr>
              <a:t>Clear responsibilities for each job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F1E146-7BA2-424A-B547-39FDB3DF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107632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rPr>
              <a:t>Customer: your direct customer</a:t>
            </a:r>
          </a:p>
          <a:p xmlns:a="http://schemas.openxmlformats.org/drawingml/2006/main">
            <a:pPr>
              <a:def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rPr>
              <a:t>Consignee: your customer’s customer receiving the goods</a:t>
            </a:r>
          </a:p>
          <a:p xmlns:a="http://schemas.openxmlformats.org/drawingml/2006/main">
            <a:pPr>
              <a:def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rPr>
              <a:t>Vehicle owner: your business or another company</a:t>
            </a:r>
          </a:p>
          <a:p xmlns:a="http://schemas.openxmlformats.org/drawingml/2006/main">
            <a:pPr>
              <a:def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rPr>
              <a:t>Transport partner: the outside transporter fulfilling a job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A52D45-85A7-4080-A4BB-F2D58AAC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77D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251434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E6B09F-89F2-409E-B2DE-945D9699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F4D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42F4D"/>
                </a:solidFill>
                <a:latin typeface="DejaVu Sans"/>
                <a:ea typeface="DejaVu Sans"/>
                <a:cs typeface="DejaVu Sans"/>
              </a:rPr>
              <a:t>First-release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F5BBA3-7F08-44CD-86EA-DBF8863D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2877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6718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6718E"/>
                </a:solidFill>
                <a:latin typeface="DejaVu Sans"/>
                <a:ea typeface="DejaVu Sans"/>
                <a:cs typeface="DejaVu Sans"/>
              </a:rPr>
              <a:t>Daily operations and business records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68709-6D63-4205-AFF9-E65654BA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107632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rPr>
              <a:t>Orders, deliveries, vehicles and drivers</a:t>
            </a:r>
          </a:p>
          <a:p xmlns:a="http://schemas.openxmlformats.org/drawingml/2006/main">
            <a:pPr>
              <a:def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rPr>
              <a:t>Companies, factories, customers and consignees</a:t>
            </a:r>
          </a:p>
          <a:p xmlns:a="http://schemas.openxmlformats.org/drawingml/2006/main">
            <a:pPr>
              <a:def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rPr>
              <a:t>Fuel purchases, repairs and service reminders</a:t>
            </a:r>
          </a:p>
          <a:p xmlns:a="http://schemas.openxmlformats.org/drawingml/2006/main">
            <a:pPr>
              <a:def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rPr>
              <a:t>Bills, collections, settlements and reports</a:t>
            </a:r>
          </a:p>
          <a:p xmlns:a="http://schemas.openxmlformats.org/drawingml/2006/main">
            <a:pPr>
              <a:def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rPr>
              <a:t>Staff access, settings and reviewed spreadsheet imports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E438C0-15C8-4CF6-994D-D4A0E20D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77D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231449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49DE3D-4C70-47F0-A57F-53DF650D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F4D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42F4D"/>
                </a:solidFill>
                <a:latin typeface="DejaVu Sans"/>
                <a:ea typeface="DejaVu Sans"/>
                <a:cs typeface="DejaVu Sans"/>
              </a:rPr>
              <a:t>Outsourced orders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E4C2E1-A309-4D2A-9BCB-B3D15801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2877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6718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6718E"/>
                </a:solidFill>
                <a:latin typeface="DejaVu Sans"/>
                <a:ea typeface="DejaVu Sans"/>
                <a:cs typeface="DejaVu Sans"/>
              </a:rPr>
              <a:t>Partner payments stay separate from customer collections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CD0BD0-81E0-4DD5-8E2C-C1245CF4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107632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rPr>
              <a:t>Assign the existing order to a transport partner</a:t>
            </a:r>
          </a:p>
          <a:p xmlns:a="http://schemas.openxmlformats.org/drawingml/2006/main">
            <a:pPr>
              <a:def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rPr>
              <a:t>Record agreed fare, commission and partner amount</a:t>
            </a:r>
          </a:p>
          <a:p xmlns:a="http://schemas.openxmlformats.org/drawingml/2006/main">
            <a:pPr>
              <a:def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rPr>
              <a:t>Track advances, later payments and remaining balance</a:t>
            </a:r>
          </a:p>
          <a:p xmlns:a="http://schemas.openxmlformats.org/drawingml/2006/main">
            <a:pPr>
              <a:def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rPr>
              <a:t>Keep delivery progress linked to the same job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5E7CDE-21E7-4356-93FE-48E180E1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77D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782186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74C79E-1B8A-41D1-A4EE-F042C80E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F4D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42F4D"/>
                </a:solidFill>
                <a:latin typeface="DejaVu Sans"/>
                <a:ea typeface="DejaVu Sans"/>
                <a:cs typeface="DejaVu Sans"/>
              </a:rPr>
              <a:t>Fuel suppliers and branches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3B1700-47FB-40E3-A157-CDCDF941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2877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6718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6718E"/>
                </a:solidFill>
                <a:latin typeface="DejaVu Sans"/>
                <a:ea typeface="DejaVu Sans"/>
                <a:cs typeface="DejaVu Sans"/>
              </a:rPr>
              <a:t>A branch view and a combined supplier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B77D9B-0B09-4640-A4E5-7A69763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107632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rPr>
              <a:t>Record purchases by supplier, branch and vehicle</a:t>
            </a:r>
          </a:p>
          <a:p xmlns:a="http://schemas.openxmlformats.org/drawingml/2006/main">
            <a:pPr>
              <a:def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rPr>
              <a:t>Pay one branch or settle centrally across supplier branches</a:t>
            </a:r>
          </a:p>
          <a:p xmlns:a="http://schemas.openxmlformats.org/drawingml/2006/main">
            <a:pPr>
              <a:def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rPr>
              <a:t>Apply each payment to specific purchases only once</a:t>
            </a:r>
          </a:p>
          <a:p xmlns:a="http://schemas.openxmlformats.org/drawingml/2006/main">
            <a:pPr>
              <a:def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rPr>
              <a:t>Review litres, cost, payments and outstanding balances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3286D4-75D4-4BB2-BF58-1E7BD931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77D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842805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21C3A4-BA34-4681-BBDF-0985CF20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F4D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42F4D"/>
                </a:solidFill>
                <a:latin typeface="DejaVu Sans"/>
                <a:ea typeface="DejaVu Sans"/>
                <a:cs typeface="DejaVu Sans"/>
              </a:rPr>
              <a:t>Billing and financial visibility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DC5DA6-1E55-4E7A-8768-E7A8F2B0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2877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6718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6718E"/>
                </a:solidFill>
                <a:latin typeface="DejaVu Sans"/>
                <a:ea typeface="DejaVu Sans"/>
                <a:cs typeface="DejaVu Sans"/>
              </a:rPr>
              <a:t>Clear bills and balances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561595-B3DE-48A4-B256-68BDCEBB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107632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rPr>
              <a:t>Combine eligible orders into a transport bill</a:t>
            </a:r>
          </a:p>
          <a:p xmlns:a="http://schemas.openxmlformats.org/drawingml/2006/main">
            <a:pPr>
              <a:def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rPr>
              <a:t>Print long bills across multiple pages</a:t>
            </a:r>
          </a:p>
          <a:p xmlns:a="http://schemas.openxmlformats.org/drawingml/2006/main">
            <a:pPr>
              <a:def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rPr>
              <a:t>Record partial payments, advances and corrections</a:t>
            </a:r>
          </a:p>
          <a:p xmlns:a="http://schemas.openxmlformats.org/drawingml/2006/main">
            <a:pPr>
              <a:def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rPr>
              <a:t>Review customer, partner and supplier statements</a:t>
            </a:r>
          </a:p>
          <a:p xmlns:a="http://schemas.openxmlformats.org/drawingml/2006/main">
            <a:pPr>
              <a:def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rPr>
              <a:t>Track invoiced amounts separately from money collected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BA86AF-D51E-4DE8-B894-1269353E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77D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310512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7CF7CC-DA2B-48C9-94E8-01416DE8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F4D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42F4D"/>
                </a:solidFill>
                <a:latin typeface="DejaVu Sans"/>
                <a:ea typeface="DejaVu Sans"/>
                <a:cs typeface="DejaVu Sans"/>
              </a:rPr>
              <a:t>Delivery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F9D971-EF5E-420A-A860-FD459C47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2877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6718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6718E"/>
                </a:solidFill>
                <a:latin typeface="DejaVu Sans"/>
                <a:ea typeface="DejaVu Sans"/>
                <a:cs typeface="DejaVu Sans"/>
              </a:rPr>
              <a:t>Dashboard first, followed by the mobile phase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B21F28-887E-4992-8733-E553430E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107632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rPr>
              <a:t>1  Staff access, settings and business records</a:t>
            </a:r>
          </a:p>
          <a:p xmlns:a="http://schemas.openxmlformats.org/drawingml/2006/main">
            <a:pPr>
              <a:def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rPr>
              <a:t>2  Orders, outsourcing, fuel and maintenance</a:t>
            </a:r>
          </a:p>
          <a:p xmlns:a="http://schemas.openxmlformats.org/drawingml/2006/main">
            <a:pPr>
              <a:def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rPr>
              <a:t>3  Bills, settlements, reports and data import</a:t>
            </a:r>
          </a:p>
          <a:p xmlns:a="http://schemas.openxmlformats.org/drawingml/2006/main">
            <a:pPr>
              <a:def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rPr>
              <a:t>4  Staff review, print checks and backup recovery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63EF61-3DCF-473E-A27F-B1A7F697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77D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923250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AC3141-0FD9-459D-BFA0-B2C97B54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F4D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42F4D"/>
                </a:solidFill>
                <a:latin typeface="DejaVu Sans"/>
                <a:ea typeface="DejaVu Sans"/>
                <a:cs typeface="DejaVu Sans"/>
              </a:rPr>
              <a:t>Client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DA2AF5-0989-44F0-99D5-7D09F107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2877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6718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6718E"/>
                </a:solidFill>
                <a:latin typeface="DejaVu Sans"/>
                <a:ea typeface="DejaVu Sans"/>
                <a:cs typeface="DejaVu Sans"/>
              </a:rPr>
              <a:t>Business rules need client confirmation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647C2E-6659-438E-9209-C11C4C32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107632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rPr>
              <a:t>Who pays each transport bill?</a:t>
            </a:r>
          </a:p>
          <a:p xmlns:a="http://schemas.openxmlformats.org/drawingml/2006/main">
            <a:pPr>
              <a:def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rPr>
              <a:t>How are commission, advances and partner expenses handled?</a:t>
            </a:r>
          </a:p>
          <a:p xmlns:a="http://schemas.openxmlformats.org/drawingml/2006/main">
            <a:pPr>
              <a:def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rPr>
              <a:t>Can one order use several vehicles or receivers?</a:t>
            </a:r>
          </a:p>
          <a:p xmlns:a="http://schemas.openxmlformats.org/drawingml/2006/main">
            <a:pPr>
              <a:def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rPr>
              <a:t>Which currency, tax rules, language and bill format apply?</a:t>
            </a:r>
          </a:p>
          <a:p xmlns:a="http://schemas.openxmlformats.org/drawingml/2006/main">
            <a:pPr>
              <a:def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rPr>
              <a:t>Who can change financial records and maintain backups?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C1E316-EDCB-479B-886F-9D8CFE43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77D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547805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CBF385-6DCD-4281-9DF5-D84910AB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F4D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42F4D"/>
                </a:solidFill>
                <a:latin typeface="DejaVu Sans"/>
                <a:ea typeface="DejaVu Sans"/>
                <a:cs typeface="DejaVu Sans"/>
              </a:rPr>
              <a:t>Scope and budget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CBFAB7-94DF-4332-983B-16B9C517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2877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6718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6718E"/>
                </a:solidFill>
                <a:latin typeface="DejaVu Sans"/>
                <a:ea typeface="DejaVu Sans"/>
                <a:cs typeface="DejaVu Sans"/>
              </a:rPr>
              <a:t>The initial target is no monthly service subscription cost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FD2FEB-42A5-488A-BDEF-8741297B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107632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rPr>
              <a:t>Free-service limits and backup arrangements need validation.</a:t>
            </a:r>
          </a:p>
          <a:p xmlns:a="http://schemas.openxmlformats.org/drawingml/2006/main">
            <a:pPr>
              <a:def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rPr>
              <a:t>Paid services require explicit approval.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rPr>
              <a:t>Mobile, GPS, offline sync, external portals and full accounting</a:t>
            </a:r>
          </a:p>
          <a:p xmlns:a="http://schemas.openxmlformats.org/drawingml/2006/main">
            <a:pPr>
              <a:def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rPr>
              <a:t>are later work unless separately agreed.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53448"/>
                </a:solidFill>
                <a:latin typeface="DejaVu Sans"/>
                <a:ea typeface="DejaVu Sans"/>
                <a:cs typeface="DejaVu Sans"/>
              </a:rPr>
              <a:t>Delivery dates will follow scope confirmation.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A88EA9-213C-432A-B7BA-AB9C5CE9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77D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135083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2026-10-04T21:22:07.1380000Z</dcterms:created>
  <dcterms:modified xsi:type="dcterms:W3CDTF">2026-10-04T21:22:07.1380000Z</dcterms:modified>
</coreProperties>
</file>